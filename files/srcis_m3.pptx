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Epilogue"/>
      <p:regular r:id="rId29"/>
      <p:bold r:id="rId30"/>
      <p:italic r:id="rId31"/>
      <p:boldItalic r:id="rId32"/>
    </p:embeddedFont>
    <p:embeddedFont>
      <p:font typeface="PT Sans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AA7D42-2D78-41F6-B9C4-C4F1C026470A}">
  <a:tblStyle styleId="{2AAA7D42-2D78-41F6-B9C4-C4F1C02647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7625">
              <a:solidFill>
                <a:srgbClr val="545B5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pilog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pilogue-italic.fntdata"/><Relationship Id="rId30" Type="http://schemas.openxmlformats.org/officeDocument/2006/relationships/font" Target="fonts/Epilogue-bold.fntdata"/><Relationship Id="rId11" Type="http://schemas.openxmlformats.org/officeDocument/2006/relationships/slide" Target="slides/slide6.xml"/><Relationship Id="rId33" Type="http://schemas.openxmlformats.org/officeDocument/2006/relationships/font" Target="fonts/PTSans-regular.fntdata"/><Relationship Id="rId10" Type="http://schemas.openxmlformats.org/officeDocument/2006/relationships/slide" Target="slides/slide5.xml"/><Relationship Id="rId32" Type="http://schemas.openxmlformats.org/officeDocument/2006/relationships/font" Target="fonts/Epilogue-boldItalic.fntdata"/><Relationship Id="rId13" Type="http://schemas.openxmlformats.org/officeDocument/2006/relationships/slide" Target="slides/slide8.xml"/><Relationship Id="rId35" Type="http://schemas.openxmlformats.org/officeDocument/2006/relationships/font" Target="fonts/PTSans-italic.fntdata"/><Relationship Id="rId12" Type="http://schemas.openxmlformats.org/officeDocument/2006/relationships/slide" Target="slides/slide7.xml"/><Relationship Id="rId34" Type="http://schemas.openxmlformats.org/officeDocument/2006/relationships/font" Target="fonts/PTSans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PTSans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484897fde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484897fd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9022f3d2f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9022f3d2f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a9022f3d2f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a9022f3d2f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a9022f3d2f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a9022f3d2f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a9022f3d2f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a9022f3d2f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a9022f3d2f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a9022f3d2f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9022f3d2f_0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a9022f3d2f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9022f3d2f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a9022f3d2f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a9022f3d2f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a9022f3d2f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a9022f3d2f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a9022f3d2f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a9022f3d2f_0_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a9022f3d2f_0_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9" name="Google Shape;139;p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0" name="Google Shape;150;p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9" name="Google Shape;249;p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6" name="Google Shape;346;p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8" name="Google Shape;358;p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1" name="Google Shape;401;p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2" name="Google Shape;402;p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2" name="Google Shape;502;p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3" name="Google Shape;503;p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5" name="Google Shape;505;p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6" name="Google Shape;506;p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7" name="Google Shape;507;p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8" name="Google Shape;508;p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9" name="Google Shape;509;p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3" name="Google Shape;543;p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5" name="Google Shape;545;p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6" name="Google Shape;546;p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7" name="Google Shape;547;p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8" name="Google Shape;548;p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9" name="Google Shape;549;p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0" name="Google Shape;550;p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2" name="Google Shape;582;p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p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1" name="Google Shape;681;p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QTZVo_AQ8rxBvpO-Uj875ubztmkFrsfd/view" TargetMode="External"/><Relationship Id="rId5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H-BmZOX11C8dZV1t7FgAuggpEPajHW6_/view" TargetMode="External"/><Relationship Id="rId5" Type="http://schemas.openxmlformats.org/officeDocument/2006/relationships/image" Target="../media/image4.jpg"/><Relationship Id="rId6" Type="http://schemas.openxmlformats.org/officeDocument/2006/relationships/hyperlink" Target="http://drive.google.com/file/d/1Lrvo-O-Y4Y9LhwWh6Iij6LJYPgkvwwMP/view" TargetMode="External"/><Relationship Id="rId7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"/>
          <p:cNvSpPr/>
          <p:nvPr/>
        </p:nvSpPr>
        <p:spPr>
          <a:xfrm>
            <a:off x="719925" y="919300"/>
            <a:ext cx="5072700" cy="1461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25"/>
          <p:cNvSpPr txBox="1"/>
          <p:nvPr>
            <p:ph type="ctrTitle"/>
          </p:nvPr>
        </p:nvSpPr>
        <p:spPr>
          <a:xfrm>
            <a:off x="719925" y="919300"/>
            <a:ext cx="5072700" cy="1461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Search &amp; Rescue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Coordinated Intelligence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Systems</a:t>
            </a:r>
            <a:endParaRPr sz="3000"/>
          </a:p>
        </p:txBody>
      </p:sp>
      <p:pic>
        <p:nvPicPr>
          <p:cNvPr id="750" name="Google Shape;7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625" y="1001450"/>
            <a:ext cx="3046574" cy="3140604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5"/>
          <p:cNvSpPr/>
          <p:nvPr/>
        </p:nvSpPr>
        <p:spPr>
          <a:xfrm>
            <a:off x="1478775" y="4488191"/>
            <a:ext cx="1185000" cy="6552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52" name="Google Shape;752;p25"/>
          <p:cNvSpPr/>
          <p:nvPr/>
        </p:nvSpPr>
        <p:spPr>
          <a:xfrm rot="870">
            <a:off x="3848775" y="4472850"/>
            <a:ext cx="1185000" cy="670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2663775" y="4488191"/>
            <a:ext cx="1185000" cy="6552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54" name="Google Shape;754;p25"/>
          <p:cNvSpPr txBox="1"/>
          <p:nvPr/>
        </p:nvSpPr>
        <p:spPr>
          <a:xfrm>
            <a:off x="719925" y="2381200"/>
            <a:ext cx="49506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The autonomous teamwork of ground and air assets in a mission-oriented environment</a:t>
            </a:r>
            <a:endParaRPr i="1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6"/>
          <p:cNvSpPr/>
          <p:nvPr/>
        </p:nvSpPr>
        <p:spPr>
          <a:xfrm>
            <a:off x="486325" y="0"/>
            <a:ext cx="34557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OVERVIEW</a:t>
            </a:r>
            <a:endParaRPr b="1" sz="43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60" name="Google Shape;760;p26"/>
          <p:cNvSpPr txBox="1"/>
          <p:nvPr/>
        </p:nvSpPr>
        <p:spPr>
          <a:xfrm>
            <a:off x="1667550" y="1488975"/>
            <a:ext cx="4235700" cy="2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Progress Matrix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Accomplished Tasks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	Interface Demo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		Milestone 4 Plan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			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				Demos</a:t>
            </a:r>
            <a:endParaRPr b="1" sz="18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61" name="Google Shape;761;p26"/>
          <p:cNvSpPr/>
          <p:nvPr/>
        </p:nvSpPr>
        <p:spPr>
          <a:xfrm rot="5400000">
            <a:off x="1213350" y="1400325"/>
            <a:ext cx="432000" cy="47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2" name="Google Shape;762;p26"/>
          <p:cNvSpPr/>
          <p:nvPr/>
        </p:nvSpPr>
        <p:spPr>
          <a:xfrm rot="5400000">
            <a:off x="1689750" y="1944600"/>
            <a:ext cx="432000" cy="47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3" name="Google Shape;763;p26"/>
          <p:cNvSpPr/>
          <p:nvPr/>
        </p:nvSpPr>
        <p:spPr>
          <a:xfrm rot="5400000">
            <a:off x="2166150" y="2481225"/>
            <a:ext cx="432000" cy="47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4" name="Google Shape;764;p26"/>
          <p:cNvSpPr/>
          <p:nvPr/>
        </p:nvSpPr>
        <p:spPr>
          <a:xfrm rot="5400000">
            <a:off x="2587175" y="3017850"/>
            <a:ext cx="432000" cy="47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5" name="Google Shape;7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725" y="714825"/>
            <a:ext cx="2935950" cy="293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6"/>
          <p:cNvSpPr/>
          <p:nvPr/>
        </p:nvSpPr>
        <p:spPr>
          <a:xfrm>
            <a:off x="1478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67" name="Google Shape;767;p26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2663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769" name="Google Shape;769;p26"/>
          <p:cNvSpPr/>
          <p:nvPr/>
        </p:nvSpPr>
        <p:spPr>
          <a:xfrm rot="5400000">
            <a:off x="3040275" y="3549200"/>
            <a:ext cx="432000" cy="47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70" name="Google Shape;7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9860" y="1343450"/>
            <a:ext cx="1923689" cy="19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7"/>
          <p:cNvSpPr txBox="1"/>
          <p:nvPr>
            <p:ph type="title"/>
          </p:nvPr>
        </p:nvSpPr>
        <p:spPr>
          <a:xfrm>
            <a:off x="4272525" y="2043975"/>
            <a:ext cx="4813200" cy="1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7"/>
          <p:cNvSpPr txBox="1"/>
          <p:nvPr>
            <p:ph idx="2" type="title"/>
          </p:nvPr>
        </p:nvSpPr>
        <p:spPr>
          <a:xfrm>
            <a:off x="3705500" y="1363400"/>
            <a:ext cx="1645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M3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777" name="Google Shape;777;p27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778" name="Google Shape;778;p27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0" name="Google Shape;780;p27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781" name="Google Shape;781;p27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3" name="Google Shape;783;p27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784" name="Google Shape;784;p27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7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7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87" name="Google Shape;787;p27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788" name="Google Shape;788;p27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789" name="Google Shape;789;p27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7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7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7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7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7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7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7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7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7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9" name="Google Shape;799;p27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800" name="Google Shape;800;p27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7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7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7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7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7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7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7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7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7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0" name="Google Shape;810;p27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811" name="Google Shape;811;p27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7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7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7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7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7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7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7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9" name="Google Shape;819;p27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27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1" name="Google Shape;821;p27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822" name="Google Shape;822;p27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823" name="Google Shape;823;p27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7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7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7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7" name="Google Shape;827;p27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828" name="Google Shape;828;p27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829" name="Google Shape;829;p27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0" name="Google Shape;830;p27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1" name="Google Shape;831;p27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2" name="Google Shape;832;p27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833" name="Google Shape;833;p27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4" name="Google Shape;834;p27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5" name="Google Shape;835;p27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836" name="Google Shape;836;p27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7" name="Google Shape;837;p27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8" name="Google Shape;838;p27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39" name="Google Shape;839;p27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840" name="Google Shape;840;p27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7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842" name="Google Shape;842;p27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843" name="Google Shape;843;p27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" name="Google Shape;844;p27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5" name="Google Shape;845;p27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846" name="Google Shape;846;p27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27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48" name="Google Shape;848;p27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849" name="Google Shape;849;p27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850" name="Google Shape;850;p27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27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27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3" name="Google Shape;853;p27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4" name="Google Shape;854;p27"/>
          <p:cNvSpPr/>
          <p:nvPr/>
        </p:nvSpPr>
        <p:spPr>
          <a:xfrm flipH="1" rot="-7219687">
            <a:off x="-1095655" y="408466"/>
            <a:ext cx="5219277" cy="470790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5" name="Google Shape;855;p27"/>
          <p:cNvPicPr preferRelativeResize="0"/>
          <p:nvPr/>
        </p:nvPicPr>
        <p:blipFill rotWithShape="1">
          <a:blip r:embed="rId3">
            <a:alphaModFix/>
          </a:blip>
          <a:srcRect b="18247" l="0" r="0" t="0"/>
          <a:stretch/>
        </p:blipFill>
        <p:spPr>
          <a:xfrm>
            <a:off x="-870975" y="-202025"/>
            <a:ext cx="5143800" cy="420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0740000" dist="276225">
              <a:srgbClr val="000000">
                <a:alpha val="50000"/>
              </a:srgbClr>
            </a:outerShdw>
          </a:effectLst>
        </p:spPr>
      </p:pic>
      <p:pic>
        <p:nvPicPr>
          <p:cNvPr id="856" name="Google Shape;8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Google Shape;861;p28"/>
          <p:cNvGraphicFramePr/>
          <p:nvPr/>
        </p:nvGraphicFramePr>
        <p:xfrm>
          <a:off x="1705625" y="108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{2AAA7D42-2D78-41F6-B9C4-C4F1C026470A}</a:tableStyleId>
              </a:tblPr>
              <a:tblGrid>
                <a:gridCol w="2245725"/>
                <a:gridCol w="1104925"/>
                <a:gridCol w="571175"/>
                <a:gridCol w="896975"/>
                <a:gridCol w="913950"/>
              </a:tblGrid>
              <a:tr h="30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Task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Completion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Yav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Young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Pop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72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Heartbeat Safety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70%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Static Target Detection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25%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50%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25%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Multi-agent View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50%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25%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25%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2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Location Info (SLAM)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4</a:t>
                      </a: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6</a:t>
                      </a: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Moving Target Detection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60%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40%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Complete repair of LIMOs</a:t>
                      </a:r>
                      <a:endParaRPr i="1"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100%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7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Drone integration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(Parrot)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Multi-agent Coordination 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862" name="Google Shape;862;p28"/>
          <p:cNvSpPr/>
          <p:nvPr/>
        </p:nvSpPr>
        <p:spPr>
          <a:xfrm>
            <a:off x="1478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63" name="Google Shape;863;p28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2663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865" name="Google Shape;8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28"/>
          <p:cNvSpPr/>
          <p:nvPr/>
        </p:nvSpPr>
        <p:spPr>
          <a:xfrm>
            <a:off x="610550" y="-25"/>
            <a:ext cx="27852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Progress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3395750" y="-150"/>
            <a:ext cx="29820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Completed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9"/>
          <p:cNvSpPr txBox="1"/>
          <p:nvPr>
            <p:ph idx="4" type="subTitle"/>
          </p:nvPr>
        </p:nvSpPr>
        <p:spPr>
          <a:xfrm>
            <a:off x="710850" y="1390723"/>
            <a:ext cx="21753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Heartbeat Safety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3" name="Google Shape;873;p29"/>
          <p:cNvSpPr txBox="1"/>
          <p:nvPr>
            <p:ph idx="5" type="subTitle"/>
          </p:nvPr>
        </p:nvSpPr>
        <p:spPr>
          <a:xfrm>
            <a:off x="3257575" y="1390863"/>
            <a:ext cx="21753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Static Target Detection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4" name="Google Shape;874;p29"/>
          <p:cNvSpPr txBox="1"/>
          <p:nvPr>
            <p:ph idx="6" type="subTitle"/>
          </p:nvPr>
        </p:nvSpPr>
        <p:spPr>
          <a:xfrm>
            <a:off x="5804300" y="1390725"/>
            <a:ext cx="2031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SLAM Implementation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5" name="Google Shape;875;p29"/>
          <p:cNvSpPr txBox="1"/>
          <p:nvPr>
            <p:ph idx="1" type="subTitle"/>
          </p:nvPr>
        </p:nvSpPr>
        <p:spPr>
          <a:xfrm>
            <a:off x="710850" y="1858450"/>
            <a:ext cx="2175300" cy="15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The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frontend publishes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heartbeat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, that the LIMO listens to.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-When active, the agent moves, when the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connection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is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lost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, the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agent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stops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until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the connection is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reestablished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76" name="Google Shape;876;p29"/>
          <p:cNvSpPr txBox="1"/>
          <p:nvPr>
            <p:ph idx="2" type="subTitle"/>
          </p:nvPr>
        </p:nvSpPr>
        <p:spPr>
          <a:xfrm>
            <a:off x="3257572" y="20582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We opted for a, more stable,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ArUco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marker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; the previous method for static target detection via colors was too broad and left too much room for error.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77" name="Google Shape;877;p29"/>
          <p:cNvSpPr txBox="1"/>
          <p:nvPr>
            <p:ph idx="3" type="subTitle"/>
          </p:nvPr>
        </p:nvSpPr>
        <p:spPr>
          <a:xfrm>
            <a:off x="5804300" y="20582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To compliment the SLAM algorithm, we use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ArUco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markers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as a point of reference / “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world origin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” for the training environment.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78" name="Google Shape;878;p29"/>
          <p:cNvSpPr/>
          <p:nvPr/>
        </p:nvSpPr>
        <p:spPr>
          <a:xfrm>
            <a:off x="1478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79" name="Google Shape;879;p29"/>
          <p:cNvSpPr/>
          <p:nvPr/>
        </p:nvSpPr>
        <p:spPr>
          <a:xfrm rot="870">
            <a:off x="3848775" y="4584751"/>
            <a:ext cx="1185000" cy="558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2663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881" name="Google Shape;8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29"/>
          <p:cNvSpPr/>
          <p:nvPr/>
        </p:nvSpPr>
        <p:spPr>
          <a:xfrm>
            <a:off x="624400" y="125"/>
            <a:ext cx="27852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Progress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83" name="Google Shape;883;p29"/>
          <p:cNvSpPr/>
          <p:nvPr/>
        </p:nvSpPr>
        <p:spPr>
          <a:xfrm>
            <a:off x="3409600" y="0"/>
            <a:ext cx="2981700" cy="6675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Completed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0"/>
          <p:cNvSpPr txBox="1"/>
          <p:nvPr>
            <p:ph idx="4" type="subTitle"/>
          </p:nvPr>
        </p:nvSpPr>
        <p:spPr>
          <a:xfrm>
            <a:off x="710850" y="1336322"/>
            <a:ext cx="21753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Repair LIMOs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89" name="Google Shape;889;p30"/>
          <p:cNvSpPr txBox="1"/>
          <p:nvPr>
            <p:ph idx="5" type="subTitle"/>
          </p:nvPr>
        </p:nvSpPr>
        <p:spPr>
          <a:xfrm>
            <a:off x="3257575" y="1336325"/>
            <a:ext cx="2175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Moving Target Detection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0" name="Google Shape;890;p30"/>
          <p:cNvSpPr txBox="1"/>
          <p:nvPr>
            <p:ph idx="1" type="subTitle"/>
          </p:nvPr>
        </p:nvSpPr>
        <p:spPr>
          <a:xfrm>
            <a:off x="710850" y="2058225"/>
            <a:ext cx="2175300" cy="15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-We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labeled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and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installed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all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wheels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to ensure consistency for repairs and identification if issues occur. 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-We have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four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operable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LIMO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robots.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1" name="Google Shape;891;p30"/>
          <p:cNvSpPr txBox="1"/>
          <p:nvPr>
            <p:ph idx="2" type="subTitle"/>
          </p:nvPr>
        </p:nvSpPr>
        <p:spPr>
          <a:xfrm>
            <a:off x="3257575" y="2058225"/>
            <a:ext cx="2175300" cy="17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-This functionality utilizes the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ArUco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detection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and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SLAM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algorithm to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identify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the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target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and its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disposition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in the environment.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2" name="Google Shape;892;p30"/>
          <p:cNvSpPr txBox="1"/>
          <p:nvPr>
            <p:ph idx="4" type="subTitle"/>
          </p:nvPr>
        </p:nvSpPr>
        <p:spPr>
          <a:xfrm>
            <a:off x="5804300" y="1336322"/>
            <a:ext cx="21753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Multi-agent View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3" name="Google Shape;893;p30"/>
          <p:cNvSpPr txBox="1"/>
          <p:nvPr>
            <p:ph idx="1" type="subTitle"/>
          </p:nvPr>
        </p:nvSpPr>
        <p:spPr>
          <a:xfrm>
            <a:off x="5804300" y="2058225"/>
            <a:ext cx="2175300" cy="17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-On the user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interface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, the user can now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switch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between different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camera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views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for each robot.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-User can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individually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access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each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robot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on the network.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4" name="Google Shape;894;p30"/>
          <p:cNvSpPr/>
          <p:nvPr/>
        </p:nvSpPr>
        <p:spPr>
          <a:xfrm>
            <a:off x="1478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5" name="Google Shape;895;p30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2663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897" name="Google Shape;8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30"/>
          <p:cNvSpPr/>
          <p:nvPr/>
        </p:nvSpPr>
        <p:spPr>
          <a:xfrm>
            <a:off x="624400" y="125"/>
            <a:ext cx="27852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Progress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3409600" y="0"/>
            <a:ext cx="2981700" cy="6675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Completed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1"/>
          <p:cNvSpPr/>
          <p:nvPr/>
        </p:nvSpPr>
        <p:spPr>
          <a:xfrm flipH="1" rot="3114322">
            <a:off x="-1095653" y="217796"/>
            <a:ext cx="5219276" cy="470789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1"/>
          <p:cNvSpPr txBox="1"/>
          <p:nvPr>
            <p:ph type="title"/>
          </p:nvPr>
        </p:nvSpPr>
        <p:spPr>
          <a:xfrm>
            <a:off x="4272525" y="2043975"/>
            <a:ext cx="4813200" cy="1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Matrix and Rollovers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1"/>
          <p:cNvSpPr txBox="1"/>
          <p:nvPr>
            <p:ph idx="2" type="title"/>
          </p:nvPr>
        </p:nvSpPr>
        <p:spPr>
          <a:xfrm>
            <a:off x="3705500" y="1363400"/>
            <a:ext cx="1645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M4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907" name="Google Shape;907;p3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908" name="Google Shape;908;p3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" name="Google Shape;910;p3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911" name="Google Shape;911;p3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3" name="Google Shape;913;p3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914" name="Google Shape;914;p3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3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3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7" name="Google Shape;917;p3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918" name="Google Shape;918;p3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919" name="Google Shape;919;p3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3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3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3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3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9" name="Google Shape;929;p3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930" name="Google Shape;930;p3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3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3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3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0" name="Google Shape;940;p3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941" name="Google Shape;941;p3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49" name="Google Shape;949;p3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1" name="Google Shape;951;p3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952" name="Google Shape;952;p3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953" name="Google Shape;953;p3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57" name="Google Shape;957;p3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958" name="Google Shape;958;p3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959" name="Google Shape;959;p3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3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1" name="Google Shape;961;p3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2" name="Google Shape;962;p3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963" name="Google Shape;963;p3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4" name="Google Shape;964;p3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5" name="Google Shape;965;p3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966" name="Google Shape;966;p3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3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3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69" name="Google Shape;969;p3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970" name="Google Shape;970;p3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1" name="Google Shape;971;p3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972" name="Google Shape;972;p3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973" name="Google Shape;973;p3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4" name="Google Shape;974;p3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5" name="Google Shape;975;p3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976" name="Google Shape;976;p3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7" name="Google Shape;977;p3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978" name="Google Shape;978;p31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979" name="Google Shape;979;p31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31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3" name="Google Shape;983;p31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4" name="Google Shape;9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0201" y="659650"/>
            <a:ext cx="5406776" cy="22492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800000" dist="114300">
              <a:srgbClr val="000000">
                <a:alpha val="50000"/>
              </a:srgbClr>
            </a:outerShdw>
          </a:effectLst>
        </p:spPr>
      </p:pic>
      <p:pic>
        <p:nvPicPr>
          <p:cNvPr id="985" name="Google Shape;9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2"/>
          <p:cNvSpPr txBox="1"/>
          <p:nvPr>
            <p:ph idx="5" type="subTitle"/>
          </p:nvPr>
        </p:nvSpPr>
        <p:spPr>
          <a:xfrm>
            <a:off x="4229525" y="1336325"/>
            <a:ext cx="2175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Multi-agent Coordination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91" name="Google Shape;991;p32"/>
          <p:cNvSpPr txBox="1"/>
          <p:nvPr>
            <p:ph idx="2" type="subTitle"/>
          </p:nvPr>
        </p:nvSpPr>
        <p:spPr>
          <a:xfrm>
            <a:off x="4229522" y="20582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Repairing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the Limos posed as a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blocker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for this task.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992" name="Google Shape;992;p32"/>
          <p:cNvSpPr/>
          <p:nvPr/>
        </p:nvSpPr>
        <p:spPr>
          <a:xfrm>
            <a:off x="608225" y="0"/>
            <a:ext cx="23322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Task Rollover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993" name="Google Shape;993;p32"/>
          <p:cNvSpPr txBox="1"/>
          <p:nvPr>
            <p:ph idx="3" type="subTitle"/>
          </p:nvPr>
        </p:nvSpPr>
        <p:spPr>
          <a:xfrm>
            <a:off x="2054225" y="20582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Made ROS2 code for drones, but could not run the code due to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lack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of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connection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support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for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macOS.</a:t>
            </a:r>
            <a:endParaRPr b="1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994" name="Google Shape;994;p32"/>
          <p:cNvSpPr txBox="1"/>
          <p:nvPr>
            <p:ph idx="6" type="subTitle"/>
          </p:nvPr>
        </p:nvSpPr>
        <p:spPr>
          <a:xfrm>
            <a:off x="2054225" y="1336325"/>
            <a:ext cx="2031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Drone Integration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95" name="Google Shape;995;p32"/>
          <p:cNvSpPr/>
          <p:nvPr/>
        </p:nvSpPr>
        <p:spPr>
          <a:xfrm>
            <a:off x="1478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996" name="Google Shape;996;p32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997" name="Google Shape;997;p32"/>
          <p:cNvSpPr/>
          <p:nvPr/>
        </p:nvSpPr>
        <p:spPr>
          <a:xfrm>
            <a:off x="2663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998" name="Google Shape;9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32"/>
          <p:cNvSpPr/>
          <p:nvPr/>
        </p:nvSpPr>
        <p:spPr>
          <a:xfrm>
            <a:off x="2940425" y="0"/>
            <a:ext cx="31374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5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00" name="Google Shape;1000;p32"/>
          <p:cNvSpPr/>
          <p:nvPr/>
        </p:nvSpPr>
        <p:spPr>
          <a:xfrm>
            <a:off x="6077826" y="5550"/>
            <a:ext cx="1716900" cy="465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5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5" name="Google Shape;1005;p33"/>
          <p:cNvGraphicFramePr/>
          <p:nvPr/>
        </p:nvGraphicFramePr>
        <p:xfrm>
          <a:off x="2258075" y="105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{2AAA7D42-2D78-41F6-B9C4-C4F1C026470A}</a:tableStyleId>
              </a:tblPr>
              <a:tblGrid>
                <a:gridCol w="2245725"/>
                <a:gridCol w="571175"/>
                <a:gridCol w="896975"/>
                <a:gridCol w="913950"/>
              </a:tblGrid>
              <a:tr h="30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Task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Yav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Young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Pop</a:t>
                      </a:r>
                      <a:endParaRPr b="1" sz="1200">
                        <a:solidFill>
                          <a:schemeClr val="lt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7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Drone integration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(Parrot)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Multi-agent Coordination </a:t>
                      </a:r>
                      <a:endParaRPr i="1"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lt2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Unitree Go2 Setup</a:t>
                      </a:r>
                      <a:endParaRPr i="1"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Concurrent Map Sharing</a:t>
                      </a:r>
                      <a:endParaRPr i="1"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Target Sharing</a:t>
                      </a:r>
                      <a:endParaRPr i="1"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Target engagement algorithm</a:t>
                      </a:r>
                      <a:endParaRPr i="1"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Robot Operator</a:t>
                      </a:r>
                      <a:endParaRPr i="1"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33%</a:t>
                      </a:r>
                      <a:endParaRPr sz="1200">
                        <a:solidFill>
                          <a:schemeClr val="accent6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0" marB="63500" marR="63500" marL="63500">
                    <a:lnL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6" name="Google Shape;1006;p33"/>
          <p:cNvSpPr/>
          <p:nvPr/>
        </p:nvSpPr>
        <p:spPr>
          <a:xfrm>
            <a:off x="1478775" y="4678100"/>
            <a:ext cx="1185000" cy="465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07" name="Google Shape;1007;p33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2663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009" name="Google Shape;10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33"/>
          <p:cNvSpPr/>
          <p:nvPr/>
        </p:nvSpPr>
        <p:spPr>
          <a:xfrm>
            <a:off x="608225" y="0"/>
            <a:ext cx="23322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Task Rollover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11" name="Google Shape;1011;p33"/>
          <p:cNvSpPr/>
          <p:nvPr/>
        </p:nvSpPr>
        <p:spPr>
          <a:xfrm>
            <a:off x="2940425" y="0"/>
            <a:ext cx="31374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12" name="Google Shape;1012;p33"/>
          <p:cNvSpPr/>
          <p:nvPr/>
        </p:nvSpPr>
        <p:spPr>
          <a:xfrm>
            <a:off x="6077825" y="5550"/>
            <a:ext cx="1716900" cy="465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5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4"/>
          <p:cNvSpPr txBox="1"/>
          <p:nvPr>
            <p:ph idx="5" type="subTitle"/>
          </p:nvPr>
        </p:nvSpPr>
        <p:spPr>
          <a:xfrm>
            <a:off x="3610950" y="1256746"/>
            <a:ext cx="17496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Target Sharing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18" name="Google Shape;1018;p34"/>
          <p:cNvSpPr txBox="1"/>
          <p:nvPr>
            <p:ph idx="2" type="subTitle"/>
          </p:nvPr>
        </p:nvSpPr>
        <p:spPr>
          <a:xfrm>
            <a:off x="3566475" y="1955400"/>
            <a:ext cx="1749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When a target is found, the robot will inform the Robot Operator and notify the other agents.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19" name="Google Shape;1019;p34"/>
          <p:cNvSpPr txBox="1"/>
          <p:nvPr>
            <p:ph idx="3" type="subTitle"/>
          </p:nvPr>
        </p:nvSpPr>
        <p:spPr>
          <a:xfrm>
            <a:off x="1861350" y="1955400"/>
            <a:ext cx="1749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-Build a map that contains relevant information 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-Robots in network, Target(s), and Local objects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0" name="Google Shape;1020;p34"/>
          <p:cNvSpPr txBox="1"/>
          <p:nvPr>
            <p:ph idx="6" type="subTitle"/>
          </p:nvPr>
        </p:nvSpPr>
        <p:spPr>
          <a:xfrm>
            <a:off x="1861350" y="1256748"/>
            <a:ext cx="17496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Concurrent Map Sharing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1478775" y="4534100"/>
            <a:ext cx="1185000" cy="6093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2" name="Google Shape;1022;p34"/>
          <p:cNvSpPr/>
          <p:nvPr/>
        </p:nvSpPr>
        <p:spPr>
          <a:xfrm rot="870">
            <a:off x="3848775" y="4667250"/>
            <a:ext cx="1185000" cy="476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2663775" y="4667000"/>
            <a:ext cx="1185000" cy="47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4" name="Google Shape;1024;p34"/>
          <p:cNvSpPr txBox="1"/>
          <p:nvPr>
            <p:ph idx="5" type="subTitle"/>
          </p:nvPr>
        </p:nvSpPr>
        <p:spPr>
          <a:xfrm>
            <a:off x="5360550" y="1256746"/>
            <a:ext cx="19221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Target Engagement Algorithm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25" name="Google Shape;1025;p34"/>
          <p:cNvSpPr txBox="1"/>
          <p:nvPr>
            <p:ph idx="2" type="subTitle"/>
          </p:nvPr>
        </p:nvSpPr>
        <p:spPr>
          <a:xfrm>
            <a:off x="5360550" y="2119325"/>
            <a:ext cx="18558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-C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reate an efficient algorithm for the robots to collaborate and surround the target.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026" name="Google Shape;10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34"/>
          <p:cNvSpPr/>
          <p:nvPr/>
        </p:nvSpPr>
        <p:spPr>
          <a:xfrm>
            <a:off x="608225" y="0"/>
            <a:ext cx="23322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Task Rollover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2940425" y="0"/>
            <a:ext cx="31374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29" name="Google Shape;1029;p34"/>
          <p:cNvSpPr/>
          <p:nvPr/>
        </p:nvSpPr>
        <p:spPr>
          <a:xfrm>
            <a:off x="6077825" y="5550"/>
            <a:ext cx="17169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35"/>
          <p:cNvSpPr/>
          <p:nvPr/>
        </p:nvSpPr>
        <p:spPr>
          <a:xfrm>
            <a:off x="1478775" y="4667000"/>
            <a:ext cx="1185000" cy="47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Yavanni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Ensley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35" name="Google Shape;1035;p35"/>
          <p:cNvSpPr/>
          <p:nvPr/>
        </p:nvSpPr>
        <p:spPr>
          <a:xfrm rot="870">
            <a:off x="3848775" y="4534345"/>
            <a:ext cx="1185000" cy="609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Jaylin “Pop”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Ollivierre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2663775" y="4667000"/>
            <a:ext cx="1185000" cy="47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Younghoon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Cho</a:t>
            </a:r>
            <a:endParaRPr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037" name="Google Shape;10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35"/>
          <p:cNvSpPr txBox="1"/>
          <p:nvPr>
            <p:ph idx="5" type="subTitle"/>
          </p:nvPr>
        </p:nvSpPr>
        <p:spPr>
          <a:xfrm>
            <a:off x="4601025" y="1248544"/>
            <a:ext cx="18558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Robot Operator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39" name="Google Shape;1039;p35"/>
          <p:cNvSpPr txBox="1"/>
          <p:nvPr>
            <p:ph idx="2" type="subTitle"/>
          </p:nvPr>
        </p:nvSpPr>
        <p:spPr>
          <a:xfrm>
            <a:off x="4654124" y="1933375"/>
            <a:ext cx="1749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When the robot sends the target ArUco, the operator will decide the confidence level.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40" name="Google Shape;1040;p35"/>
          <p:cNvSpPr txBox="1"/>
          <p:nvPr>
            <p:ph idx="5" type="subTitle"/>
          </p:nvPr>
        </p:nvSpPr>
        <p:spPr>
          <a:xfrm>
            <a:off x="2425725" y="1248550"/>
            <a:ext cx="2175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Unitree Go2 Setup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41" name="Google Shape;1041;p35"/>
          <p:cNvSpPr txBox="1"/>
          <p:nvPr>
            <p:ph idx="2" type="subTitle"/>
          </p:nvPr>
        </p:nvSpPr>
        <p:spPr>
          <a:xfrm>
            <a:off x="2425725" y="1970451"/>
            <a:ext cx="2175300" cy="21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Note: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-All three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Unitree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Go2’s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have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been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powered on and </a:t>
            </a: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tested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to ensure all functions work as intended.</a:t>
            </a:r>
            <a:endParaRPr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pilogue"/>
                <a:ea typeface="Epilogue"/>
                <a:cs typeface="Epilogue"/>
                <a:sym typeface="Epilogue"/>
              </a:rPr>
              <a:t>-Need to reverse engineering the code to integrate with our Hazelcast setup.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42" name="Google Shape;1042;p35"/>
          <p:cNvSpPr/>
          <p:nvPr/>
        </p:nvSpPr>
        <p:spPr>
          <a:xfrm>
            <a:off x="608225" y="0"/>
            <a:ext cx="23322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M3 Task Rollover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43" name="Google Shape;1043;p35"/>
          <p:cNvSpPr/>
          <p:nvPr/>
        </p:nvSpPr>
        <p:spPr>
          <a:xfrm>
            <a:off x="2940425" y="0"/>
            <a:ext cx="3137400" cy="476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 Matrix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44" name="Google Shape;1044;p35"/>
          <p:cNvSpPr/>
          <p:nvPr/>
        </p:nvSpPr>
        <p:spPr>
          <a:xfrm>
            <a:off x="6077825" y="5550"/>
            <a:ext cx="1716900" cy="6093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3"/>
          </a:solidFill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M4 Tasks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6"/>
          <p:cNvSpPr/>
          <p:nvPr/>
        </p:nvSpPr>
        <p:spPr>
          <a:xfrm flipH="1" rot="3114322">
            <a:off x="-1095653" y="217796"/>
            <a:ext cx="5219276" cy="470789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6"/>
          <p:cNvSpPr txBox="1"/>
          <p:nvPr>
            <p:ph type="title"/>
          </p:nvPr>
        </p:nvSpPr>
        <p:spPr>
          <a:xfrm>
            <a:off x="4272525" y="2320075"/>
            <a:ext cx="4813200" cy="1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Multi-agent view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Multi-agent operation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Unitree Go2 Testing</a:t>
            </a:r>
            <a:endParaRPr sz="2800"/>
          </a:p>
        </p:txBody>
      </p:sp>
      <p:sp>
        <p:nvSpPr>
          <p:cNvPr id="1051" name="Google Shape;1051;p36"/>
          <p:cNvSpPr txBox="1"/>
          <p:nvPr>
            <p:ph idx="2" type="title"/>
          </p:nvPr>
        </p:nvSpPr>
        <p:spPr>
          <a:xfrm>
            <a:off x="3705500" y="1363400"/>
            <a:ext cx="3054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Demos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1052" name="Google Shape;10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95500" y="289850"/>
            <a:ext cx="4078800" cy="407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000000" dist="66675">
              <a:srgbClr val="000000">
                <a:alpha val="50000"/>
              </a:srgbClr>
            </a:outerShdw>
          </a:effectLst>
        </p:spPr>
      </p:pic>
      <p:grpSp>
        <p:nvGrpSpPr>
          <p:cNvPr id="1053" name="Google Shape;1053;p36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54" name="Google Shape;1054;p3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55" name="Google Shape;1055;p3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3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3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8" name="Google Shape;1058;p3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9" name="Google Shape;1059;p36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60" name="Google Shape;1060;p36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2" name="Google Shape;1062;p36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63" name="Google Shape;1063;p36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36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5" name="Google Shape;1065;p36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66" name="Google Shape;1066;p36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36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36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9" name="Google Shape;1069;p36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70" name="Google Shape;1070;p36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71" name="Google Shape;1071;p36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" name="Google Shape;1072;p36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" name="Google Shape;1073;p36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36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36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36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36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36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36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36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1" name="Google Shape;1081;p36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82" name="Google Shape;1082;p36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36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36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36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36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36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36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36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36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36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92" name="Google Shape;1092;p36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93" name="Google Shape;1093;p36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36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36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6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6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6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6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6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01" name="Google Shape;1101;p36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6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3" name="Google Shape;1103;p36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104" name="Google Shape;1104;p36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105" name="Google Shape;1105;p36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6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6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6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9" name="Google Shape;1109;p36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110" name="Google Shape;1110;p36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111" name="Google Shape;1111;p36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2" name="Google Shape;1112;p36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3" name="Google Shape;1113;p36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4" name="Google Shape;1114;p36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115" name="Google Shape;1115;p36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6" name="Google Shape;1116;p36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7" name="Google Shape;1117;p36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118" name="Google Shape;1118;p36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9" name="Google Shape;1119;p36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6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121" name="Google Shape;1121;p36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122" name="Google Shape;1122;p36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23" name="Google Shape;1123;p36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124" name="Google Shape;1124;p36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125" name="Google Shape;1125;p36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6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7" name="Google Shape;1127;p36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128" name="Google Shape;1128;p36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9" name="Google Shape;1129;p36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pic>
        <p:nvPicPr>
          <p:cNvPr id="1130" name="Google Shape;113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37"/>
          <p:cNvSpPr/>
          <p:nvPr/>
        </p:nvSpPr>
        <p:spPr>
          <a:xfrm flipH="1" rot="3114322">
            <a:off x="-1095653" y="217796"/>
            <a:ext cx="5219276" cy="470789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6" name="Google Shape;11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37"/>
          <p:cNvSpPr/>
          <p:nvPr/>
        </p:nvSpPr>
        <p:spPr>
          <a:xfrm>
            <a:off x="668075" y="0"/>
            <a:ext cx="2412300" cy="9111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Multi-agent Operation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38" name="Google Shape;1138;p37"/>
          <p:cNvSpPr/>
          <p:nvPr/>
        </p:nvSpPr>
        <p:spPr>
          <a:xfrm>
            <a:off x="3080383" y="0"/>
            <a:ext cx="2216400" cy="7140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Unitree Go2 Testing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139" name="Google Shape;1139;p37" title="Multi-agent_Demo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6523" y="1411604"/>
            <a:ext cx="4790950" cy="31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8"/>
          <p:cNvSpPr/>
          <p:nvPr/>
        </p:nvSpPr>
        <p:spPr>
          <a:xfrm flipH="1" rot="3114322">
            <a:off x="-1095653" y="217796"/>
            <a:ext cx="5219276" cy="470789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5" name="Google Shape;11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925" y="4325950"/>
            <a:ext cx="793075" cy="8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38"/>
          <p:cNvSpPr/>
          <p:nvPr/>
        </p:nvSpPr>
        <p:spPr>
          <a:xfrm>
            <a:off x="668075" y="0"/>
            <a:ext cx="2412300" cy="7140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Multi-agent Operation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47" name="Google Shape;1147;p38"/>
          <p:cNvSpPr/>
          <p:nvPr/>
        </p:nvSpPr>
        <p:spPr>
          <a:xfrm>
            <a:off x="3080375" y="0"/>
            <a:ext cx="2216400" cy="914400"/>
          </a:xfrm>
          <a:prstGeom prst="round2SameRect">
            <a:avLst>
              <a:gd fmla="val 0" name="adj1"/>
              <a:gd fmla="val 20636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Unitree Go2 Testing</a:t>
            </a:r>
            <a:endParaRPr b="1" sz="18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148" name="Google Shape;1148;p38" title="Go2_Handstand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8152" y="1099600"/>
            <a:ext cx="2064498" cy="367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38" title="Go2_Shake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2650" y="1099600"/>
            <a:ext cx="2743200" cy="3670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9"/>
          <p:cNvSpPr txBox="1"/>
          <p:nvPr/>
        </p:nvSpPr>
        <p:spPr>
          <a:xfrm>
            <a:off x="1956000" y="2192100"/>
            <a:ext cx="52320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QUESTIONS?</a:t>
            </a:r>
            <a:endParaRPr b="1" sz="44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A0A0A0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C6C6C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